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1F033-2B1B-43A8-844B-B7A8523FF7CA}" v="4" dt="2026-10-28T08:43:31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0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le LOATE" userId="dbe251c59c5e3d6a" providerId="LiveId" clId="{7F9CD132-ED0B-4D5D-8B0D-881D4FD214F5}"/>
    <pc:docChg chg="custSel modSld modMainMaster">
      <pc:chgData name="Lele LOATE" userId="dbe251c59c5e3d6a" providerId="LiveId" clId="{7F9CD132-ED0B-4D5D-8B0D-881D4FD214F5}" dt="2026-10-28T08:43:48.152" v="47" actId="478"/>
      <pc:docMkLst>
        <pc:docMk/>
      </pc:docMkLst>
      <pc:sldChg chg="addSp delSp modSp mod modTransition">
        <pc:chgData name="Lele LOATE" userId="dbe251c59c5e3d6a" providerId="LiveId" clId="{7F9CD132-ED0B-4D5D-8B0D-881D4FD214F5}" dt="2026-10-28T08:43:48.152" v="47" actId="478"/>
        <pc:sldMkLst>
          <pc:docMk/>
          <pc:sldMk cId="0" sldId="256"/>
        </pc:sldMkLst>
        <pc:spChg chg="del">
          <ac:chgData name="Lele LOATE" userId="dbe251c59c5e3d6a" providerId="LiveId" clId="{7F9CD132-ED0B-4D5D-8B0D-881D4FD214F5}" dt="2026-10-28T08:43:48.152" v="47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Lele LOATE" userId="dbe251c59c5e3d6a" providerId="LiveId" clId="{7F9CD132-ED0B-4D5D-8B0D-881D4FD214F5}" dt="2026-10-28T08:43:44.957" v="46" actId="478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Lele LOATE" userId="dbe251c59c5e3d6a" providerId="LiveId" clId="{7F9CD132-ED0B-4D5D-8B0D-881D4FD214F5}" dt="2026-10-28T08:43:32.704" v="44"/>
          <ac:spMkLst>
            <pc:docMk/>
            <pc:sldMk cId="0" sldId="256"/>
            <ac:spMk id="16" creationId="{B6750D4A-4129-15D2-08C4-A7072C1C82A5}"/>
          </ac:spMkLst>
        </pc:spChg>
      </pc:sldChg>
      <pc:sldChg chg="delSp mod modTransition">
        <pc:chgData name="Lele LOATE" userId="dbe251c59c5e3d6a" providerId="LiveId" clId="{7F9CD132-ED0B-4D5D-8B0D-881D4FD214F5}" dt="2026-10-28T08:43:29.838" v="41" actId="478"/>
        <pc:sldMkLst>
          <pc:docMk/>
          <pc:sldMk cId="0" sldId="257"/>
        </pc:sldMkLst>
        <pc:spChg chg="del">
          <ac:chgData name="Lele LOATE" userId="dbe251c59c5e3d6a" providerId="LiveId" clId="{7F9CD132-ED0B-4D5D-8B0D-881D4FD214F5}" dt="2026-10-28T08:43:29.838" v="41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3:25.776" v="40" actId="478"/>
          <ac:spMkLst>
            <pc:docMk/>
            <pc:sldMk cId="0" sldId="257"/>
            <ac:spMk id="19" creationId="{00000000-0000-0000-0000-000000000000}"/>
          </ac:spMkLst>
        </pc:spChg>
      </pc:sldChg>
      <pc:sldChg chg="delSp mod modTransition">
        <pc:chgData name="Lele LOATE" userId="dbe251c59c5e3d6a" providerId="LiveId" clId="{7F9CD132-ED0B-4D5D-8B0D-881D4FD214F5}" dt="2026-10-28T08:43:14.279" v="39" actId="478"/>
        <pc:sldMkLst>
          <pc:docMk/>
          <pc:sldMk cId="0" sldId="258"/>
        </pc:sldMkLst>
        <pc:spChg chg="del">
          <ac:chgData name="Lele LOATE" userId="dbe251c59c5e3d6a" providerId="LiveId" clId="{7F9CD132-ED0B-4D5D-8B0D-881D4FD214F5}" dt="2026-10-28T08:43:14.279" v="39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3:11.465" v="38" actId="478"/>
          <ac:spMkLst>
            <pc:docMk/>
            <pc:sldMk cId="0" sldId="258"/>
            <ac:spMk id="8" creationId="{00000000-0000-0000-0000-000000000000}"/>
          </ac:spMkLst>
        </pc:spChg>
      </pc:sldChg>
      <pc:sldChg chg="delSp mod modTransition">
        <pc:chgData name="Lele LOATE" userId="dbe251c59c5e3d6a" providerId="LiveId" clId="{7F9CD132-ED0B-4D5D-8B0D-881D4FD214F5}" dt="2026-10-28T08:43:05.540" v="37" actId="478"/>
        <pc:sldMkLst>
          <pc:docMk/>
          <pc:sldMk cId="0" sldId="259"/>
        </pc:sldMkLst>
        <pc:spChg chg="del">
          <ac:chgData name="Lele LOATE" userId="dbe251c59c5e3d6a" providerId="LiveId" clId="{7F9CD132-ED0B-4D5D-8B0D-881D4FD214F5}" dt="2026-10-28T08:43:05.540" v="37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3:01.070" v="36" actId="478"/>
          <ac:spMkLst>
            <pc:docMk/>
            <pc:sldMk cId="0" sldId="259"/>
            <ac:spMk id="10" creationId="{00000000-0000-0000-0000-000000000000}"/>
          </ac:spMkLst>
        </pc:spChg>
      </pc:sldChg>
      <pc:sldChg chg="delSp mod modTransition">
        <pc:chgData name="Lele LOATE" userId="dbe251c59c5e3d6a" providerId="LiveId" clId="{7F9CD132-ED0B-4D5D-8B0D-881D4FD214F5}" dt="2026-10-28T08:42:53.547" v="35" actId="478"/>
        <pc:sldMkLst>
          <pc:docMk/>
          <pc:sldMk cId="0" sldId="260"/>
        </pc:sldMkLst>
        <pc:spChg chg="del">
          <ac:chgData name="Lele LOATE" userId="dbe251c59c5e3d6a" providerId="LiveId" clId="{7F9CD132-ED0B-4D5D-8B0D-881D4FD214F5}" dt="2026-10-28T08:42:53.547" v="35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2:50.859" v="34" actId="478"/>
          <ac:spMkLst>
            <pc:docMk/>
            <pc:sldMk cId="0" sldId="260"/>
            <ac:spMk id="20" creationId="{00000000-0000-0000-0000-000000000000}"/>
          </ac:spMkLst>
        </pc:spChg>
      </pc:sldChg>
      <pc:sldChg chg="delSp mod modTransition">
        <pc:chgData name="Lele LOATE" userId="dbe251c59c5e3d6a" providerId="LiveId" clId="{7F9CD132-ED0B-4D5D-8B0D-881D4FD214F5}" dt="2026-10-28T08:42:39.562" v="33" actId="478"/>
        <pc:sldMkLst>
          <pc:docMk/>
          <pc:sldMk cId="0" sldId="261"/>
        </pc:sldMkLst>
        <pc:spChg chg="del">
          <ac:chgData name="Lele LOATE" userId="dbe251c59c5e3d6a" providerId="LiveId" clId="{7F9CD132-ED0B-4D5D-8B0D-881D4FD214F5}" dt="2026-10-28T08:42:39.562" v="33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2:36.446" v="32" actId="478"/>
          <ac:spMkLst>
            <pc:docMk/>
            <pc:sldMk cId="0" sldId="261"/>
            <ac:spMk id="10" creationId="{00000000-0000-0000-0000-000000000000}"/>
          </ac:spMkLst>
        </pc:spChg>
      </pc:sldChg>
      <pc:sldChg chg="addSp delSp modSp mod modTransition">
        <pc:chgData name="Lele LOATE" userId="dbe251c59c5e3d6a" providerId="LiveId" clId="{7F9CD132-ED0B-4D5D-8B0D-881D4FD214F5}" dt="2026-10-28T08:42:27.563" v="31" actId="478"/>
        <pc:sldMkLst>
          <pc:docMk/>
          <pc:sldMk cId="0" sldId="262"/>
        </pc:sldMkLst>
        <pc:spChg chg="del">
          <ac:chgData name="Lele LOATE" userId="dbe251c59c5e3d6a" providerId="LiveId" clId="{7F9CD132-ED0B-4D5D-8B0D-881D4FD214F5}" dt="2026-10-28T08:42:27.563" v="31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Lele LOATE" userId="dbe251c59c5e3d6a" providerId="LiveId" clId="{7F9CD132-ED0B-4D5D-8B0D-881D4FD214F5}" dt="2026-10-28T08:42:18.884" v="28" actId="478"/>
          <ac:spMkLst>
            <pc:docMk/>
            <pc:sldMk cId="0" sldId="262"/>
            <ac:spMk id="8" creationId="{00000000-0000-0000-0000-000000000000}"/>
          </ac:spMkLst>
        </pc:spChg>
        <pc:spChg chg="add del mod">
          <ac:chgData name="Lele LOATE" userId="dbe251c59c5e3d6a" providerId="LiveId" clId="{7F9CD132-ED0B-4D5D-8B0D-881D4FD214F5}" dt="2026-10-28T08:42:23.023" v="30" actId="478"/>
          <ac:spMkLst>
            <pc:docMk/>
            <pc:sldMk cId="0" sldId="262"/>
            <ac:spMk id="16" creationId="{3DA514F6-A1F2-4945-C78C-F39B5388EE05}"/>
          </ac:spMkLst>
        </pc:spChg>
      </pc:sldChg>
      <pc:sldChg chg="delSp mod modTransition">
        <pc:chgData name="Lele LOATE" userId="dbe251c59c5e3d6a" providerId="LiveId" clId="{7F9CD132-ED0B-4D5D-8B0D-881D4FD214F5}" dt="2026-10-28T08:42:08.098" v="26" actId="478"/>
        <pc:sldMkLst>
          <pc:docMk/>
          <pc:sldMk cId="0" sldId="263"/>
        </pc:sldMkLst>
        <pc:spChg chg="del">
          <ac:chgData name="Lele LOATE" userId="dbe251c59c5e3d6a" providerId="LiveId" clId="{7F9CD132-ED0B-4D5D-8B0D-881D4FD214F5}" dt="2026-10-28T08:42:08.098" v="26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2:05.472" v="25" actId="478"/>
          <ac:spMkLst>
            <pc:docMk/>
            <pc:sldMk cId="0" sldId="263"/>
            <ac:spMk id="8" creationId="{00000000-0000-0000-0000-000000000000}"/>
          </ac:spMkLst>
        </pc:spChg>
      </pc:sldChg>
      <pc:sldChg chg="delSp modSp mod modTransition">
        <pc:chgData name="Lele LOATE" userId="dbe251c59c5e3d6a" providerId="LiveId" clId="{7F9CD132-ED0B-4D5D-8B0D-881D4FD214F5}" dt="2026-10-28T08:42:01.198" v="24" actId="478"/>
        <pc:sldMkLst>
          <pc:docMk/>
          <pc:sldMk cId="0" sldId="264"/>
        </pc:sldMkLst>
        <pc:spChg chg="del">
          <ac:chgData name="Lele LOATE" userId="dbe251c59c5e3d6a" providerId="LiveId" clId="{7F9CD132-ED0B-4D5D-8B0D-881D4FD214F5}" dt="2026-10-28T08:42:01.198" v="24" actId="478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Lele LOATE" userId="dbe251c59c5e3d6a" providerId="LiveId" clId="{7F9CD132-ED0B-4D5D-8B0D-881D4FD214F5}" dt="2026-10-28T08:41:57.910" v="23" actId="478"/>
          <ac:spMkLst>
            <pc:docMk/>
            <pc:sldMk cId="0" sldId="264"/>
            <ac:spMk id="19" creationId="{00000000-0000-0000-0000-000000000000}"/>
          </ac:spMkLst>
        </pc:spChg>
      </pc:sldChg>
      <pc:sldChg chg="delSp mod modTransition">
        <pc:chgData name="Lele LOATE" userId="dbe251c59c5e3d6a" providerId="LiveId" clId="{7F9CD132-ED0B-4D5D-8B0D-881D4FD214F5}" dt="2026-10-28T08:41:51.694" v="21" actId="478"/>
        <pc:sldMkLst>
          <pc:docMk/>
          <pc:sldMk cId="0" sldId="265"/>
        </pc:sldMkLst>
        <pc:spChg chg="del">
          <ac:chgData name="Lele LOATE" userId="dbe251c59c5e3d6a" providerId="LiveId" clId="{7F9CD132-ED0B-4D5D-8B0D-881D4FD214F5}" dt="2026-10-28T08:41:51.694" v="21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1:49.060" v="20" actId="478"/>
          <ac:spMkLst>
            <pc:docMk/>
            <pc:sldMk cId="0" sldId="265"/>
            <ac:spMk id="9" creationId="{00000000-0000-0000-0000-000000000000}"/>
          </ac:spMkLst>
        </pc:spChg>
      </pc:sldChg>
      <pc:sldChg chg="delSp modSp mod modTransition">
        <pc:chgData name="Lele LOATE" userId="dbe251c59c5e3d6a" providerId="LiveId" clId="{7F9CD132-ED0B-4D5D-8B0D-881D4FD214F5}" dt="2026-10-28T08:41:37.872" v="18" actId="478"/>
        <pc:sldMkLst>
          <pc:docMk/>
          <pc:sldMk cId="0" sldId="266"/>
        </pc:sldMkLst>
        <pc:spChg chg="del">
          <ac:chgData name="Lele LOATE" userId="dbe251c59c5e3d6a" providerId="LiveId" clId="{7F9CD132-ED0B-4D5D-8B0D-881D4FD214F5}" dt="2026-10-28T08:41:37.872" v="18" actId="478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Lele LOATE" userId="dbe251c59c5e3d6a" providerId="LiveId" clId="{7F9CD132-ED0B-4D5D-8B0D-881D4FD214F5}" dt="2026-10-28T08:41:35.118" v="17" actId="478"/>
          <ac:spMkLst>
            <pc:docMk/>
            <pc:sldMk cId="0" sldId="266"/>
            <ac:spMk id="6" creationId="{00000000-0000-0000-0000-000000000000}"/>
          </ac:spMkLst>
        </pc:spChg>
      </pc:sldChg>
      <pc:sldChg chg="delSp mod modTransition">
        <pc:chgData name="Lele LOATE" userId="dbe251c59c5e3d6a" providerId="LiveId" clId="{7F9CD132-ED0B-4D5D-8B0D-881D4FD214F5}" dt="2026-10-28T08:41:42.565" v="19" actId="478"/>
        <pc:sldMkLst>
          <pc:docMk/>
          <pc:sldMk cId="0" sldId="267"/>
        </pc:sldMkLst>
        <pc:spChg chg="del">
          <ac:chgData name="Lele LOATE" userId="dbe251c59c5e3d6a" providerId="LiveId" clId="{7F9CD132-ED0B-4D5D-8B0D-881D4FD214F5}" dt="2026-10-28T08:41:42.565" v="19" actId="4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Lele LOATE" userId="dbe251c59c5e3d6a" providerId="LiveId" clId="{7F9CD132-ED0B-4D5D-8B0D-881D4FD214F5}" dt="2026-10-28T08:41:24.205" v="2" actId="478"/>
          <ac:spMkLst>
            <pc:docMk/>
            <pc:sldMk cId="0" sldId="267"/>
            <ac:spMk id="8" creationId="{00000000-0000-0000-0000-000000000000}"/>
          </ac:spMkLst>
        </pc:spChg>
      </pc:sldChg>
      <pc:sldMasterChg chg="modTransition modSldLayout">
        <pc:chgData name="Lele LOATE" userId="dbe251c59c5e3d6a" providerId="LiveId" clId="{7F9CD132-ED0B-4D5D-8B0D-881D4FD214F5}" dt="2026-10-28T08:39:40.798" v="1"/>
        <pc:sldMasterMkLst>
          <pc:docMk/>
          <pc:sldMasterMk cId="2209977519" sldId="2147483648"/>
        </pc:sldMasterMkLst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Lele LOATE" userId="dbe251c59c5e3d6a" providerId="LiveId" clId="{7F9CD132-ED0B-4D5D-8B0D-881D4FD214F5}" dt="2026-10-28T08:39:40.798" v="1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400550"/>
            <a:ext cx="1051560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4400550"/>
            <a:ext cx="10515600" cy="9525"/>
          </a:xfrm>
          <a:prstGeom prst="rect">
            <a:avLst/>
          </a:prstGeom>
          <a:solidFill>
            <a:srgbClr val="2D4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30996" y="4638675"/>
            <a:ext cx="9525" cy="342900"/>
          </a:xfrm>
          <a:prstGeom prst="rect">
            <a:avLst/>
          </a:prstGeom>
          <a:solidFill>
            <a:srgbClr val="2D4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74034" y="4638675"/>
            <a:ext cx="9525" cy="342900"/>
          </a:xfrm>
          <a:prstGeom prst="rect">
            <a:avLst/>
          </a:prstGeom>
          <a:solidFill>
            <a:srgbClr val="2D4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2190750"/>
            <a:ext cx="99012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750" b="1" i="0" u="none">
                <a:solidFill>
                  <a:srgbClr val="FFFFFF"/>
                </a:solidFill>
                <a:latin typeface="Arial"/>
              </a:rPr>
              <a:t>RetailIQ: Sales Amount Prediction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86150"/>
            <a:ext cx="7715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Calibri"/>
              </a:rPr>
              <a:t>A practical machine learning project in Python to predict retail checkout totals and support smarter sales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638675"/>
            <a:ext cx="193737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Calibri"/>
              </a:rPr>
              <a:t>INDUSTRY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810125"/>
            <a:ext cx="193737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Calibri"/>
              </a:rPr>
              <a:t>Retail &amp; 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3421" y="4638675"/>
            <a:ext cx="243464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Calibri"/>
              </a:rPr>
              <a:t>CORE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3421" y="4810125"/>
            <a:ext cx="243464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Calibri"/>
              </a:rPr>
              <a:t>Multiple Linear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6459" y="4638675"/>
            <a:ext cx="194090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Calibri"/>
              </a:rPr>
              <a:t>INTERACTIVE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6459" y="4810125"/>
            <a:ext cx="194090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Calibri"/>
              </a:rPr>
              <a:t>SalesBoost Assistant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762250"/>
            <a:ext cx="3403550" cy="2238375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762250"/>
            <a:ext cx="3403550" cy="2238375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876550"/>
            <a:ext cx="3403550" cy="2009775"/>
          </a:xfrm>
          <a:prstGeom prst="roundRect">
            <a:avLst>
              <a:gd name="adj" fmla="val 2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991100"/>
            <a:ext cx="3403550" cy="952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762250"/>
            <a:ext cx="3403550" cy="38100"/>
          </a:xfrm>
          <a:prstGeom prst="rect">
            <a:avLst/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762250"/>
            <a:ext cx="9525" cy="223837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56025" y="2762250"/>
            <a:ext cx="9525" cy="223837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94150" y="4991100"/>
            <a:ext cx="3403550" cy="952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150" y="2762250"/>
            <a:ext cx="340355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4150" y="2762250"/>
            <a:ext cx="9525" cy="223837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88175" y="2762250"/>
            <a:ext cx="9525" cy="223837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6300" y="4876800"/>
            <a:ext cx="3403550" cy="952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6300" y="2876550"/>
            <a:ext cx="3403550" cy="381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6300" y="2876550"/>
            <a:ext cx="9525" cy="200977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20326" y="2876550"/>
            <a:ext cx="9525" cy="200977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Why Our Group Chose Retail &amp; E-Commerce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3086100"/>
            <a:ext cx="35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2042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3486150"/>
            <a:ext cx="369206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Unused Store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275" y="3790950"/>
            <a:ext cx="290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Retail shops record transactions every day with quantities, prices, and regions, but most of this data sits unused in basic spreadsheets.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9425" y="3086100"/>
            <a:ext cx="35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9425" y="3486150"/>
            <a:ext cx="369206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Too Much Guessing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9425" y="3790950"/>
            <a:ext cx="2908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Store managers still estimate checkout basket values using manual math or rough guesses, making discount planning unreliable.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575" y="3200400"/>
            <a:ext cx="3516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5803D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575" y="3600450"/>
            <a:ext cx="369206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Our AI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575" y="3905250"/>
            <a:ext cx="2908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We built RetailIQ using Python to learn from past receipts and automatically predict checkout totals in seconds.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602408"/>
            <a:ext cx="5930651" cy="2558057"/>
          </a:xfrm>
          <a:prstGeom prst="roundRect">
            <a:avLst>
              <a:gd name="adj" fmla="val 148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602408"/>
            <a:ext cx="47625" cy="255805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35551" y="2643187"/>
            <a:ext cx="4394448" cy="1152525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35551" y="3967162"/>
            <a:ext cx="4394448" cy="1152525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What Exactly is the Business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2907208"/>
            <a:ext cx="69213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Arial"/>
              </a:rPr>
              <a:t>The Core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240583"/>
            <a:ext cx="5368676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Calibri"/>
              </a:rPr>
              <a:t>Retail businesses struggle to know how much customers will spend at checkout. Customer spending changes depending on item quantities, unit prices, discounts, sales channels, and store locations.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124325"/>
            <a:ext cx="5368676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Calibri"/>
              </a:rPr>
              <a:t>Without machine learning, managers rely on manual calculations and simple averages. This makes it difficult to plan discounts, manage pricing, and evaluate sales performance accurately.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3676" y="2881312"/>
            <a:ext cx="491832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• Wasted Time &amp;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3676" y="3128962"/>
            <a:ext cx="4013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Cashiers and supervisors spend hours calculating expected checkout numbers manually.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3676" y="4205287"/>
            <a:ext cx="491832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• Inconsistent Pricing &amp; Promos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3676" y="4452937"/>
            <a:ext cx="401344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Stores apply discounts without knowing whether the final transaction value will protect their profit margin.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852737"/>
            <a:ext cx="3378249" cy="20574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6949" y="2852737"/>
            <a:ext cx="3378249" cy="20574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852737"/>
            <a:ext cx="3378249" cy="20574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6325" y="3167062"/>
            <a:ext cx="381000" cy="57150"/>
          </a:xfrm>
          <a:prstGeom prst="rect">
            <a:avLst/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21274" y="3167062"/>
            <a:ext cx="381000" cy="571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66224" y="3167062"/>
            <a:ext cx="381000" cy="5715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How Does This Help Our Local Community?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376612"/>
            <a:ext cx="360884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Supporting Local Businesses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681412"/>
            <a:ext cx="28448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Small and township retail shops run on tight budgets. Predicting sales accurately helps them avoid losses, stay open, and keep local jobs safe.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1274" y="3376612"/>
            <a:ext cx="360884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Fairer Prices for Families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1274" y="3681412"/>
            <a:ext cx="28448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When local shops understand their sales numbers, they can offer realistic discounts and stable prices on everyday food and household necessities.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3376612"/>
            <a:ext cx="360884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Stronger Local Economy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224" y="3681412"/>
            <a:ext cx="28448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Keeping neighborhood stores profitable ensures that money circulates within the local municipality instead of moving away to large external retailers.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953125" y="2605087"/>
            <a:ext cx="5476875" cy="2552700"/>
          </a:xfrm>
          <a:prstGeom prst="roundRect">
            <a:avLst>
              <a:gd name="adj" fmla="val 298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300287"/>
            <a:ext cx="4848225" cy="952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405187"/>
            <a:ext cx="4848225" cy="952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510087"/>
            <a:ext cx="4848225" cy="952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3243262"/>
            <a:ext cx="4848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300287"/>
            <a:ext cx="4848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2300287"/>
            <a:ext cx="38100" cy="952500"/>
          </a:xfrm>
          <a:prstGeom prst="rect">
            <a:avLst/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0700" y="2300287"/>
            <a:ext cx="9525" cy="952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4348162"/>
            <a:ext cx="4848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2000" y="3405187"/>
            <a:ext cx="4848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2000" y="3405187"/>
            <a:ext cx="38100" cy="952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0700" y="3405187"/>
            <a:ext cx="9525" cy="952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5453062"/>
            <a:ext cx="4848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000" y="4510087"/>
            <a:ext cx="4848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" y="4510087"/>
            <a:ext cx="38100" cy="952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00700" y="4510087"/>
            <a:ext cx="9525" cy="952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Business Objectives &amp; Success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7450" y="2919412"/>
            <a:ext cx="5924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Arial"/>
              </a:rPr>
              <a:t>How We Measure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2500312"/>
            <a:ext cx="5800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1. Accurate Sales Estimates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2728912"/>
            <a:ext cx="45148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Build a working regression model that predicts checkout totals from past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600" y="3605212"/>
            <a:ext cx="5800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2. Smarter Discounting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3833812"/>
            <a:ext cx="45148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Allow managers to test discount percentages before advertising them to customers.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" y="4710112"/>
            <a:ext cx="5800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3. SalesBoost Chatbot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4938712"/>
            <a:ext cx="45148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Calibri"/>
              </a:rPr>
              <a:t>Provide interactive sales insights so store workers can easily understand the numbers.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7450" y="3290887"/>
            <a:ext cx="49434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E3A8A"/>
                </a:solidFill>
                <a:latin typeface="Calibri"/>
              </a:rPr>
              <a:t>• Performance Metrics:</a:t>
            </a:r>
            <a:r>
              <a:rPr sz="1125" b="0" i="0" u="none">
                <a:solidFill>
                  <a:srgbClr val="1E3A8A"/>
                </a:solidFill>
                <a:latin typeface="Calibri"/>
              </a:rPr>
              <a:t> Evaluated using R² Score, MAE, and RMSE to ensure errors remain low and acceptable.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7450" y="3852862"/>
            <a:ext cx="49434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E3A8A"/>
                </a:solidFill>
                <a:latin typeface="Calibri"/>
              </a:rPr>
              <a:t>• Fast Predictions:</a:t>
            </a:r>
            <a:r>
              <a:rPr sz="1125" b="0" i="0" u="none">
                <a:solidFill>
                  <a:srgbClr val="1E3A8A"/>
                </a:solidFill>
                <a:latin typeface="Calibri"/>
              </a:rPr>
              <a:t> Users can enter inputs in the prediction tool and see the predicted sales amount instantly.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7450" y="4414837"/>
            <a:ext cx="49434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E3A8A"/>
                </a:solidFill>
                <a:latin typeface="Calibri"/>
              </a:rPr>
              <a:t>• Reproducible Code:</a:t>
            </a:r>
            <a:r>
              <a:rPr sz="1125" b="0" i="0" u="none">
                <a:solidFill>
                  <a:srgbClr val="1E3A8A"/>
                </a:solidFill>
                <a:latin typeface="Calibri"/>
              </a:rPr>
              <a:t> Code runs cleanly from the GitHub repository using a fixed random state.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865239"/>
            <a:ext cx="3403550" cy="2032396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740521"/>
            <a:ext cx="3403550" cy="2281832"/>
          </a:xfrm>
          <a:prstGeom prst="roundRect">
            <a:avLst>
              <a:gd name="adj" fmla="val 2504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693789"/>
            <a:ext cx="3403550" cy="2375296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9175" y="3932039"/>
            <a:ext cx="2889200" cy="708421"/>
          </a:xfrm>
          <a:prstGeom prst="roundRect">
            <a:avLst>
              <a:gd name="adj" fmla="val 537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51325" y="3816846"/>
            <a:ext cx="2889200" cy="948332"/>
          </a:xfrm>
          <a:prstGeom prst="roundRect">
            <a:avLst>
              <a:gd name="adj" fmla="val 401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3475" y="3760589"/>
            <a:ext cx="2889200" cy="708421"/>
          </a:xfrm>
          <a:prstGeom prst="roundRect">
            <a:avLst>
              <a:gd name="adj" fmla="val 5378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The Dataset &amp;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122414"/>
            <a:ext cx="3792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2042"/>
                </a:solidFill>
                <a:latin typeface="Arial"/>
              </a:rPr>
              <a:t>Numeric &amp; Date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417689"/>
            <a:ext cx="2984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Cleaned using Pandas and extracted date parts from transaction dates: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4046339"/>
            <a:ext cx="2755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0F2042"/>
                </a:solidFill>
                <a:latin typeface="Calibri"/>
              </a:rPr>
              <a:t>• quantity, unit_price, discount_pct</a:t>
            </a:r>
            <a:r>
              <a:t>
</a:t>
            </a:r>
            <a:r>
              <a:rPr sz="1050" b="0" i="0" u="none">
                <a:solidFill>
                  <a:srgbClr val="0F2042"/>
                </a:solidFill>
                <a:latin typeface="Calibri"/>
              </a:rPr>
              <a:t> • year, month, day, day_of_week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325" y="2997696"/>
            <a:ext cx="3792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2042"/>
                </a:solidFill>
                <a:latin typeface="Arial"/>
              </a:rPr>
              <a:t>One-Hot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1325" y="3292971"/>
            <a:ext cx="2984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Converted categorical text into 0 and 1 columns using </a:t>
            </a:r>
            <a:r>
              <a:rPr sz="1050" b="0" i="0" u="none">
                <a:solidFill>
                  <a:srgbClr val="D97706"/>
                </a:solidFill>
                <a:latin typeface="Calibri"/>
              </a:rPr>
              <a:t>pd.get_dummies()</a:t>
            </a:r>
            <a:r>
              <a:rPr sz="1050" b="0" i="0" u="none">
                <a:solidFill>
                  <a:srgbClr val="475569"/>
                </a:solidFill>
                <a:latin typeface="Calibri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5625" y="3931146"/>
            <a:ext cx="27558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92400E"/>
                </a:solidFill>
                <a:latin typeface="Calibri"/>
              </a:rPr>
              <a:t>• sales_channel, payment_method, region</a:t>
            </a:r>
            <a:r>
              <a:t>
</a:t>
            </a:r>
            <a:r>
              <a:rPr sz="1050" b="0" i="0" u="none">
                <a:solidFill>
                  <a:srgbClr val="92400E"/>
                </a:solidFill>
                <a:latin typeface="Calibri"/>
              </a:rPr>
              <a:t> • Used </a:t>
            </a:r>
            <a:r>
              <a:rPr sz="1050" b="1" i="0" u="none">
                <a:solidFill>
                  <a:srgbClr val="92400E"/>
                </a:solidFill>
                <a:latin typeface="Calibri"/>
              </a:rPr>
              <a:t>drop_first=True</a:t>
            </a:r>
            <a:r>
              <a:rPr sz="1050" b="0" i="0" u="none">
                <a:solidFill>
                  <a:srgbClr val="92400E"/>
                </a:solidFill>
                <a:latin typeface="Calibri"/>
              </a:rPr>
              <a:t> to avoid dummy variable 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3475" y="2950964"/>
            <a:ext cx="3792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Arial"/>
              </a:rPr>
              <a:t>Preventing Data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3475" y="3246239"/>
            <a:ext cx="2984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We deliberately excluded variables that directly calculate the answer: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7775" y="3874889"/>
            <a:ext cx="2755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991B1B"/>
                </a:solidFill>
                <a:latin typeface="Calibri"/>
              </a:rPr>
              <a:t>• Excluded: </a:t>
            </a:r>
            <a:r>
              <a:rPr sz="1050" b="1" i="0" u="none">
                <a:solidFill>
                  <a:srgbClr val="991B1B"/>
                </a:solidFill>
                <a:latin typeface="Calibri"/>
              </a:rPr>
              <a:t>gross_sales</a:t>
            </a:r>
            <a:r>
              <a:t>
</a:t>
            </a:r>
            <a:r>
              <a:rPr sz="1050" b="0" i="0" u="none">
                <a:solidFill>
                  <a:srgbClr val="991B1B"/>
                </a:solidFill>
                <a:latin typeface="Calibri"/>
              </a:rPr>
              <a:t> • Excluded: </a:t>
            </a:r>
            <a:r>
              <a:rPr sz="1050" b="1" i="0" u="none">
                <a:solidFill>
                  <a:srgbClr val="991B1B"/>
                </a:solidFill>
                <a:latin typeface="Calibri"/>
              </a:rPr>
              <a:t>discount_amount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475" y="4545210"/>
            <a:ext cx="29844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Calibri"/>
              </a:rPr>
              <a:t>This ensures the model learns real patterns instead of basic math.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773709"/>
            <a:ext cx="5671393" cy="2215455"/>
          </a:xfrm>
          <a:prstGeom prst="roundRect">
            <a:avLst>
              <a:gd name="adj" fmla="val 25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8225" y="4011959"/>
            <a:ext cx="5118943" cy="700980"/>
          </a:xfrm>
          <a:prstGeom prst="roundRect">
            <a:avLst>
              <a:gd name="adj" fmla="val 5435"/>
            </a:avLst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76293" y="2709862"/>
            <a:ext cx="4653706" cy="109537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76293" y="3957637"/>
            <a:ext cx="4653706" cy="109537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Multiple Linear Regression &amp; Saving with Joblib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049934"/>
            <a:ext cx="67186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042"/>
                </a:solidFill>
                <a:latin typeface="Arial"/>
              </a:rPr>
              <a:t>Why Multiple Linear Regression?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383309"/>
            <a:ext cx="521419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Supervised machine learning algorithm that estimates a continuous target value (sales_amount) by finding linear relationships across multiple input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164359"/>
            <a:ext cx="490939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FFFFF"/>
                </a:solidFill>
                <a:latin typeface="Consolas"/>
              </a:rPr>
              <a:t>sales_amount = w₁(quantity) + w₂(unit_price) + w₃(discount_pct) + ...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368" y="2928937"/>
            <a:ext cx="51966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• 60% Train / 40% Test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368" y="3176587"/>
            <a:ext cx="4310806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Used Scikit-Learn's train_test_split with random_state=42 so all tests are repeatable.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368" y="4176712"/>
            <a:ext cx="51966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2042"/>
                </a:solidFill>
                <a:latin typeface="Arial"/>
              </a:rPr>
              <a:t>• Saving the Model (Joblib)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368" y="4424362"/>
            <a:ext cx="4310806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Saved as sales_model.pkl and model_features.pkl. The prediction tool reindexes columns and predicts without retraining.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918573" y="2738437"/>
            <a:ext cx="4511426" cy="10287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18573" y="3919537"/>
            <a:ext cx="4511426" cy="10287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Actual vs. Predicted Sales Amount (Our Matplotlib Plot)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7990" y="2214562"/>
            <a:ext cx="416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F2042"/>
                </a:solidFill>
                <a:latin typeface="Calibr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8598" y="2938462"/>
            <a:ext cx="507340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042"/>
                </a:solidFill>
                <a:latin typeface="Arial"/>
              </a:rPr>
              <a:t>1. Strong Accuracy Below $1,000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8598" y="3167062"/>
            <a:ext cx="42066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Points track closely along the red 45° line, proving dependable predictions for standard checkout amounts.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8598" y="4119562"/>
            <a:ext cx="507340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2042"/>
                </a:solidFill>
                <a:latin typeface="Arial"/>
              </a:rPr>
              <a:t>2. Distinct Parallel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8598" y="4348162"/>
            <a:ext cx="42066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Calibri"/>
              </a:rPr>
              <a:t>The clear layers visible on the chart reflect fixed category pricing tiers and sales channel groupings.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F2E62F-2333-7823-6094-2663994A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60" y="1473905"/>
            <a:ext cx="5961440" cy="4586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881312"/>
            <a:ext cx="3403550" cy="2000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881312"/>
            <a:ext cx="3403550" cy="2000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881312"/>
            <a:ext cx="3403550" cy="200025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872037"/>
            <a:ext cx="3403550" cy="952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881312"/>
            <a:ext cx="3403550" cy="38100"/>
          </a:xfrm>
          <a:prstGeom prst="rect">
            <a:avLst/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881312"/>
            <a:ext cx="9525" cy="2000250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56025" y="2881312"/>
            <a:ext cx="9525" cy="2000250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94150" y="4872037"/>
            <a:ext cx="3403550" cy="952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94150" y="2881312"/>
            <a:ext cx="340355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4150" y="2881312"/>
            <a:ext cx="9525" cy="2000250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88175" y="2881312"/>
            <a:ext cx="9525" cy="2000250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6300" y="4872037"/>
            <a:ext cx="3403550" cy="9525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6300" y="2881312"/>
            <a:ext cx="3403550" cy="381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6300" y="2881312"/>
            <a:ext cx="9525" cy="2000250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20326" y="2881312"/>
            <a:ext cx="9525" cy="2000250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How We Measured Model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746" y="3224212"/>
            <a:ext cx="364205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2042"/>
                </a:solidFill>
                <a:latin typeface="Arial"/>
              </a:rPr>
              <a:t>R²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462" y="3700462"/>
            <a:ext cx="3468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Calibri"/>
              </a:rPr>
              <a:t>Coefficient of Determination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462" y="3967162"/>
            <a:ext cx="34686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Calibri"/>
              </a:rPr>
              <a:t>Tells us what percentage of changes in sales amount is explained by our inputs rather than pure random chance.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4897" y="3224212"/>
            <a:ext cx="364205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D97706"/>
                </a:solidFill>
                <a:latin typeface="Arial"/>
              </a:rPr>
              <a:t>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12" y="3700462"/>
            <a:ext cx="3468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Calibri"/>
              </a:rPr>
              <a:t>Mean Absolute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12" y="3967162"/>
            <a:ext cx="34686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Calibri"/>
              </a:rPr>
              <a:t>Calculates the typical dollar amount our prediction is off by compared to the customer's actual checkout total.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7047" y="3224212"/>
            <a:ext cx="364205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15803D"/>
                </a:solidFill>
                <a:latin typeface="Arial"/>
              </a:rPr>
              <a:t>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3763" y="3700462"/>
            <a:ext cx="3468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Calibri"/>
              </a:rPr>
              <a:t>Root Mean Squared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3763" y="3967162"/>
            <a:ext cx="34686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Calibri"/>
              </a:rPr>
              <a:t>Squares errors before averaging to heavily penalize large prediction mistakes on high-value transactions.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800350"/>
            <a:ext cx="5430142" cy="2162175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35042" y="2686050"/>
            <a:ext cx="4894957" cy="2390775"/>
          </a:xfrm>
          <a:prstGeom prst="roundRect">
            <a:avLst>
              <a:gd name="adj" fmla="val 2390"/>
            </a:avLst>
          </a:prstGeom>
          <a:solidFill>
            <a:srgbClr val="0F2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82692" y="3209925"/>
            <a:ext cx="4399657" cy="752475"/>
          </a:xfrm>
          <a:prstGeom prst="roundRect">
            <a:avLst>
              <a:gd name="adj" fmla="val 5063"/>
            </a:avLst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82692" y="4076700"/>
            <a:ext cx="4399657" cy="752475"/>
          </a:xfrm>
          <a:prstGeom prst="roundRect">
            <a:avLst>
              <a:gd name="adj" fmla="val 5063"/>
            </a:avLst>
          </a:prstGeom>
          <a:solidFill>
            <a:srgbClr val="1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82692" y="4076700"/>
            <a:ext cx="28575" cy="7524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SalesBoost Assistant: Chatbot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095625"/>
            <a:ext cx="63519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042"/>
                </a:solidFill>
                <a:latin typeface="Arial"/>
              </a:rPr>
              <a:t>Assisting Everyday Store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409950"/>
            <a:ext cx="49348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Calibri"/>
              </a:rPr>
              <a:t>The SalesBoost Assistant bridges the gap between raw Python numbers and everyday store staff who need fast sales insights.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2692" y="2933700"/>
            <a:ext cx="540930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Calibri"/>
              </a:rPr>
              <a:t>[ Console Interaction Sample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019550"/>
            <a:ext cx="604949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Calibri"/>
              </a:rPr>
              <a:t>• Explains what the predicted sales amounts mean in plain English.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267200"/>
            <a:ext cx="604949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Calibri"/>
              </a:rPr>
              <a:t>• Guides users through entering menu choices (channels, regions).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514850"/>
            <a:ext cx="604949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Calibri"/>
              </a:rPr>
              <a:t>• Flags invalid date entries before the model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6042" y="3343275"/>
            <a:ext cx="51661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Calibri"/>
              </a:rPr>
              <a:t>Store Manager: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6042" y="3524250"/>
            <a:ext cx="422820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Calibri"/>
              </a:rPr>
              <a:t>"Check sales amount for 3 items at R350 with a 10% discount in Gauteng."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4617" y="4210050"/>
            <a:ext cx="513047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Calibri"/>
              </a:rPr>
              <a:t>SalesBoost Assistant: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4617" y="4391025"/>
            <a:ext cx="419963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Calibri"/>
              </a:rPr>
              <a:t>"Estimated checkout value: R945.00. The discount margin is within safe profitability limits."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2890837"/>
            <a:ext cx="5162550" cy="1981200"/>
          </a:xfrm>
          <a:prstGeom prst="roundRect">
            <a:avLst>
              <a:gd name="adj" fmla="val 2884"/>
            </a:avLst>
          </a:prstGeom>
          <a:solidFill>
            <a:srgbClr val="F8FAFC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67450" y="2776537"/>
            <a:ext cx="5162550" cy="2209800"/>
          </a:xfrm>
          <a:prstGeom prst="roundRect">
            <a:avLst>
              <a:gd name="adj" fmla="val 2586"/>
            </a:avLst>
          </a:prstGeom>
          <a:solidFill>
            <a:srgbClr val="F8FAFC"/>
          </a:solidFill>
          <a:ln w="9525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2042"/>
                </a:solidFill>
                <a:latin typeface="Arial"/>
              </a:rPr>
              <a:t>Constraints, Risks &amp;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3186112"/>
            <a:ext cx="60007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2042"/>
                </a:solidFill>
                <a:latin typeface="Arial"/>
              </a:rPr>
              <a:t>Project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529012"/>
            <a:ext cx="466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Calibri"/>
              </a:rPr>
              <a:t>• Dependent on CSV Features: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 Predictions are restricted to the columns recorded in our historical retail dataset (2024–2025).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4119562"/>
            <a:ext cx="466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Calibri"/>
              </a:rPr>
              <a:t>• Scope Boundary: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 The model estimates transaction dollar values at checkout rather than predicting warehouse inventory stock counts.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071812"/>
            <a:ext cx="56292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Arial"/>
              </a:rPr>
              <a:t>Risks &amp; How We Fixed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414712"/>
            <a:ext cx="466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475569"/>
                </a:solidFill>
                <a:latin typeface="Calibri"/>
              </a:rPr>
              <a:t>• Risk of Invalid Inputs:</a:t>
            </a:r>
            <a:r>
              <a:rPr sz="1125" b="0" i="0" u="none">
                <a:solidFill>
                  <a:srgbClr val="475569"/>
                </a:solidFill>
                <a:latin typeface="Calibri"/>
              </a:rPr>
              <a:t> Incorrect dates or text entries in number fields could crash the Python prediction program.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005262"/>
            <a:ext cx="466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5803D"/>
                </a:solidFill>
                <a:latin typeface="Calibri"/>
              </a:rPr>
              <a:t>• Our Mitigation:</a:t>
            </a:r>
            <a:r>
              <a:rPr sz="1125" b="0" i="0" u="none">
                <a:solidFill>
                  <a:srgbClr val="15803D"/>
                </a:solidFill>
                <a:latin typeface="Calibri"/>
              </a:rPr>
              <a:t> We built automated input validation and menu-mapped category dictionaries to ensure new inputs match model features.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48887" y="2458342"/>
            <a:ext cx="7294075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FFFFF"/>
                </a:solidFill>
                <a:latin typeface="Arial"/>
              </a:rPr>
              <a:t>Thank You! Any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3113633"/>
            <a:ext cx="857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Calibri"/>
              </a:rPr>
              <a:t>RetailIQ demonstrates how structured data preparation and Multiple Linear Regression can solve practical retail checkout challenges.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1040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Lele LOATE</cp:lastModifiedBy>
  <cp:revision>2</cp:revision>
  <dcterms:created xsi:type="dcterms:W3CDTF">2013-01-27T09:14:16Z</dcterms:created>
  <dcterms:modified xsi:type="dcterms:W3CDTF">2026-10-28T08:43:54Z</dcterms:modified>
  <cp:category/>
</cp:coreProperties>
</file>